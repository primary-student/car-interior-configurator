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开场只说一句：这是我用 AI 做的一个汽车内饰配置器，但它故意不卖车。</a:t>
            </a:r>
          </a:p>
          <a:p>
            <a:r>
              <a:t>预判：这不就是个配置器吗？→ 先别急，下一页再说它为什么“没用”。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钩子页。停顿两秒再念下一句。</a:t>
            </a:r>
          </a:p>
          <a:p>
            <a:r>
              <a:t>预判：那做它干嘛？→ 下一页给答案：因为所有同类产品最后都变成了销售漏斗。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这页是立论的根。不要踩品牌，只讲结构问题。</a:t>
            </a:r>
          </a:p>
          <a:p>
            <a:r>
              <a:t>预判：你怎么证明？→ 我们不讲数据，只讲你去官网配一次就懂。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“0 个购买按钮”是这页的题眼，念的时候加重。</a:t>
            </a:r>
          </a:p>
          <a:p>
            <a:r>
              <a:t>预判：没有购买按钮怎么商业化？→ 这题本来就不考商业化，考的是点子。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这页让人相信它是真的能跑。图片是项目真实截图，不是渲染图。</a:t>
            </a:r>
          </a:p>
          <a:p>
            <a:r>
              <a:t>预判：手机上能用吗？→ 能，落地页四档屏高都验证过。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左右两张是同一机位、同一台车，只改了仪表台一个部件——这是产品能力最直接的证据。</a:t>
            </a:r>
          </a:p>
          <a:p>
            <a:r>
              <a:t>预判：能改别的部件吗？→ 9 个部件都能，座椅、门板、方向盘、中控、屏框、车漆。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这页把“没用”翻译成“三个具体的人”。</a:t>
            </a:r>
          </a:p>
          <a:p>
            <a:r>
              <a:t>预判：这不就是需求调研吗？→ 不是，我们没有做过用户调研，这三类人是我们自己。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这页给的是“密度”：3 天做完建模、交互、落地页、双端适配和一整支片子。</a:t>
            </a:r>
          </a:p>
          <a:p>
            <a:r>
              <a:t>预判：3 天能做出这个？→ 代码是真的，仓库 25 次提交都在。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 35% 那一项真正拉开差距的地方——大部分参赛者只会写“我用 AI 生成了代码”。</a:t>
            </a:r>
          </a:p>
          <a:p>
            <a:r>
              <a:t>预判：0 / 544,000 是什么意思？→ 整屏 544,000 个像素点，点击前后逐个比对，一个都没变。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交付质量就三件事：跑得起来、看得下去、验得出来。右边两张是双端真实截图。</a:t>
            </a:r>
          </a:p>
          <a:p>
            <a:r>
              <a:t>预判：有 bug 吗？→ 有，中控屏边框这个部件在 GLB 里没有对应节点，点了没反应，已经写在 README。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收在主张句上，不要念“谢谢观看”。</a:t>
            </a:r>
          </a:p>
          <a:p>
            <a:r>
              <a:t>预判：为什么不干脆做个购车工具？→ 因为能做的都做了，做不了的是“让你有点想笑”。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7863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 spc="240">
                <a:solidFill>
                  <a:srgbClr val="B08356"/>
                </a:solidFill>
                <a:latin typeface="Microsoft YaHei"/>
                <a:ea typeface="Microsoft YaHei"/>
              </a:rPr>
              <a:t>AWS 鬼点子计划 · 线上赛　｜　赛道一　无用之用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7680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6200" b="0" i="0" spc="600">
                <a:solidFill>
                  <a:srgbClr val="F2ECE5"/>
                </a:solidFill>
                <a:latin typeface="Microsoft YaHei Light"/>
                <a:ea typeface="Microsoft YaHei Light"/>
              </a:rPr>
              <a:t>内秀 NEIXIU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419856"/>
            <a:ext cx="1234440" cy="12801"/>
          </a:xfrm>
          <a:prstGeom prst="rect">
            <a:avLst/>
          </a:prstGeom>
          <a:solidFill>
            <a:srgbClr val="B08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694176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i="0" spc="160">
                <a:solidFill>
                  <a:srgbClr val="B08356"/>
                </a:solidFill>
                <a:latin typeface="Microsoft YaHei Light"/>
                <a:ea typeface="Microsoft YaHei Light"/>
              </a:rPr>
              <a:t>一个故意不卖车的汽车配置器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704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 spc="140">
                <a:solidFill>
                  <a:srgbClr val="9A948D"/>
                </a:solidFill>
                <a:latin typeface="Microsoft YaHei"/>
                <a:ea typeface="Microsoft YaHei"/>
              </a:rPr>
              <a:t>3D 汽车内饰定制　·　React 19 + three.js + GLB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45575" y="58704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050" b="0" i="0" spc="140">
                <a:solidFill>
                  <a:srgbClr val="9A948D"/>
                </a:solidFill>
                <a:latin typeface="Microsoft YaHei"/>
                <a:ea typeface="Microsoft YaHei"/>
              </a:rPr>
              <a:t>2026.10　个人参赛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 spc="240">
                <a:solidFill>
                  <a:srgbClr val="B08356"/>
                </a:solidFill>
                <a:latin typeface="Microsoft YaHei"/>
                <a:ea typeface="Microsoft YaHei"/>
              </a:rPr>
              <a:t>01 / 先把话说明白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6000" b="0" i="0" spc="300">
                <a:solidFill>
                  <a:srgbClr val="F2ECE5"/>
                </a:solidFill>
                <a:latin typeface="Microsoft YaHei Light"/>
                <a:ea typeface="Microsoft YaHei Light"/>
              </a:rPr>
              <a:t>你在这里配的车，</a:t>
            </a:r>
          </a:p>
          <a:p>
            <a:pPr algn="l">
              <a:lnSpc>
                <a:spcPct val="122000"/>
              </a:lnSpc>
            </a:pPr>
            <a:r>
              <a:rPr sz="6000" b="0" i="0" spc="300">
                <a:solidFill>
                  <a:srgbClr val="F2ECE5"/>
                </a:solidFill>
                <a:latin typeface="Microsoft YaHei Light"/>
                <a:ea typeface="Microsoft YaHei Light"/>
              </a:rPr>
              <a:t>提不走。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61772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 i="0" spc="80">
                <a:solidFill>
                  <a:srgbClr val="9A948D"/>
                </a:solidFill>
                <a:latin typeface="Microsoft YaHei Light"/>
                <a:ea typeface="Microsoft YaHei Light"/>
              </a:rPr>
              <a:t>没有价格，没有留资，没有“咨询销售”。</a:t>
            </a:r>
          </a:p>
          <a:p>
            <a:pPr algn="l">
              <a:lnSpc>
                <a:spcPct val="170000"/>
              </a:lnSpc>
            </a:pPr>
            <a:r>
              <a:rPr sz="1700" b="0" i="0" spc="80">
                <a:solidFill>
                  <a:srgbClr val="9A948D"/>
                </a:solidFill>
                <a:latin typeface="Microsoft YaHei Light"/>
                <a:ea typeface="Microsoft YaHei Light"/>
              </a:rPr>
              <a:t>这是故意的。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 spc="240">
                <a:solidFill>
                  <a:srgbClr val="B08356"/>
                </a:solidFill>
                <a:latin typeface="Microsoft YaHei"/>
                <a:ea typeface="Microsoft YaHei"/>
              </a:rPr>
              <a:t>02 / 一个观察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104543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3000" b="0" i="0">
                <a:solidFill>
                  <a:srgbClr val="F2ECE5"/>
                </a:solidFill>
                <a:latin typeface="Microsoft YaHei Light"/>
                <a:ea typeface="Microsoft YaHei Light"/>
              </a:rPr>
              <a:t>汽车配置器，最后都会通向一个「留下手机号」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395728"/>
            <a:ext cx="10454335" cy="987552"/>
          </a:xfrm>
          <a:prstGeom prst="rect">
            <a:avLst/>
          </a:prstGeom>
          <a:noFill/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79576" y="267004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 spc="100">
                <a:solidFill>
                  <a:srgbClr val="B0835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9384" y="256946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2ECE5"/>
                </a:solidFill>
                <a:latin typeface="Microsoft YaHei"/>
                <a:ea typeface="Microsoft YaHei"/>
              </a:rPr>
              <a:t>车企官网的选配器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257860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9A948D"/>
                </a:solidFill>
                <a:latin typeface="Microsoft YaHei Light"/>
                <a:ea typeface="Microsoft YaHei Light"/>
              </a:rPr>
              <a:t>配完 → 留资 → 等销售电话。配置只是表单的前戏。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529584"/>
            <a:ext cx="10454335" cy="987552"/>
          </a:xfrm>
          <a:prstGeom prst="rect">
            <a:avLst/>
          </a:prstGeom>
          <a:noFill/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79576" y="380390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 spc="100">
                <a:solidFill>
                  <a:srgbClr val="B0835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9384" y="37033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2ECE5"/>
                </a:solidFill>
                <a:latin typeface="Microsoft YaHei"/>
                <a:ea typeface="Microsoft YaHei"/>
              </a:rPr>
              <a:t>「个性化」是卖车的糖衣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3712464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9A948D"/>
                </a:solidFill>
                <a:latin typeface="Microsoft YaHei Light"/>
                <a:ea typeface="Microsoft YaHei Light"/>
              </a:rPr>
              <a:t>颜色越多、动画越顺，越像在催你下单。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663440"/>
            <a:ext cx="10454335" cy="987552"/>
          </a:xfrm>
          <a:prstGeom prst="rect">
            <a:avLst/>
          </a:prstGeom>
          <a:noFill/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9576" y="493776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 spc="100">
                <a:solidFill>
                  <a:srgbClr val="B0835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9384" y="4837176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2ECE5"/>
                </a:solidFill>
                <a:latin typeface="Microsoft YaHei"/>
                <a:ea typeface="Microsoft YaHei"/>
              </a:rPr>
              <a:t>你看到的永远是别人选好的那台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484632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9A948D"/>
                </a:solidFill>
                <a:latin typeface="Microsoft YaHei Light"/>
                <a:ea typeface="Microsoft YaHei Light"/>
              </a:rPr>
              <a:t>坐不进去，只能看图；内饰永远是赠品，不是主角。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815584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 spc="120">
                <a:solidFill>
                  <a:srgbClr val="B08356"/>
                </a:solidFill>
                <a:latin typeface="Microsoft YaHei Light"/>
                <a:ea typeface="Microsoft YaHei Light"/>
              </a:rPr>
              <a:t>内饰在这套流程里，从来不是主角。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34593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5E5A55"/>
                </a:solidFill>
                <a:latin typeface="Microsoft YaHei"/>
                <a:ea typeface="Microsoft YaHei"/>
              </a:rPr>
              <a:t>观察对象：面向消费者的整车选配器（不针对任何具体品牌）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4375" y="634593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5E5A55"/>
                </a:solidFill>
                <a:latin typeface="Microsoft YaHei"/>
                <a:ea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 spc="240">
                <a:solidFill>
                  <a:srgbClr val="B08356"/>
                </a:solidFill>
                <a:latin typeface="Microsoft YaHei"/>
                <a:ea typeface="Microsoft YaHei"/>
              </a:rPr>
              <a:t>03 / 我们把漏斗砍了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104543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3000" b="0" i="0">
                <a:solidFill>
                  <a:srgbClr val="F2ECE5"/>
                </a:solidFill>
                <a:latin typeface="Microsoft YaHei Light"/>
                <a:ea typeface="Microsoft YaHei Light"/>
              </a:rPr>
              <a:t>只留一件事：让你坐进去，然后随便改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212848"/>
            <a:ext cx="2331720" cy="2286000"/>
          </a:xfrm>
          <a:prstGeom prst="rect">
            <a:avLst/>
          </a:prstGeom>
          <a:solidFill>
            <a:srgbClr val="17171B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68680" y="2212848"/>
            <a:ext cx="27432" cy="2286000"/>
          </a:xfrm>
          <a:prstGeom prst="rect">
            <a:avLst/>
          </a:prstGeom>
          <a:solidFill>
            <a:srgbClr val="B08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2432304"/>
            <a:ext cx="1554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400" b="0" i="0" spc="100">
                <a:solidFill>
                  <a:srgbClr val="F2ECE5"/>
                </a:solidFill>
                <a:latin typeface="Microsoft YaHei Light"/>
                <a:ea typeface="Microsoft YaHei Ligh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7168" y="250545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50" b="0" i="0" spc="100">
                <a:solidFill>
                  <a:srgbClr val="B08356"/>
                </a:solidFill>
                <a:latin typeface="Microsoft YaHei"/>
                <a:ea typeface="Microsoft YaHei"/>
              </a:rPr>
              <a:t>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3310128"/>
            <a:ext cx="1929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 spc="160">
                <a:solidFill>
                  <a:srgbClr val="B08356"/>
                </a:solidFill>
                <a:latin typeface="Microsoft YaHei"/>
                <a:ea typeface="Microsoft YaHei"/>
              </a:rPr>
              <a:t>可点部件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639312"/>
            <a:ext cx="189280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9A948D"/>
                </a:solidFill>
                <a:latin typeface="Microsoft YaHei Light"/>
                <a:ea typeface="Microsoft YaHei Light"/>
              </a:rPr>
              <a:t>主驾 / 副驾座椅、方向盘、仪表台、左右门板、中控台、屏框、车漆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75304" y="2212848"/>
            <a:ext cx="2331720" cy="2286000"/>
          </a:xfrm>
          <a:prstGeom prst="rect">
            <a:avLst/>
          </a:prstGeom>
          <a:solidFill>
            <a:srgbClr val="17171B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575304" y="2212848"/>
            <a:ext cx="27432" cy="2286000"/>
          </a:xfrm>
          <a:prstGeom prst="rect">
            <a:avLst/>
          </a:prstGeom>
          <a:solidFill>
            <a:srgbClr val="B08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31336" y="2432304"/>
            <a:ext cx="1554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400" b="0" i="0" spc="100">
                <a:solidFill>
                  <a:srgbClr val="F2ECE5"/>
                </a:solidFill>
                <a:latin typeface="Microsoft YaHei Light"/>
                <a:ea typeface="Microsoft YaHei Light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250545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50" b="0" i="0" spc="100">
                <a:solidFill>
                  <a:srgbClr val="B08356"/>
                </a:solidFill>
                <a:latin typeface="Microsoft YaHei"/>
                <a:ea typeface="Microsoft YaHei"/>
              </a:rPr>
              <a:t>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1336" y="3310128"/>
            <a:ext cx="1929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 spc="160">
                <a:solidFill>
                  <a:srgbClr val="B08356"/>
                </a:solidFill>
                <a:latin typeface="Microsoft YaHei"/>
                <a:ea typeface="Microsoft YaHei"/>
              </a:rPr>
              <a:t>内饰色板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1336" y="3639312"/>
            <a:ext cx="189280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9A948D"/>
                </a:solidFill>
                <a:latin typeface="Microsoft YaHei Light"/>
                <a:ea typeface="Microsoft YaHei Light"/>
              </a:rPr>
              <a:t>另有 11 色车漆，同一套交互里直接换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81928" y="2212848"/>
            <a:ext cx="2331720" cy="2286000"/>
          </a:xfrm>
          <a:prstGeom prst="rect">
            <a:avLst/>
          </a:prstGeom>
          <a:solidFill>
            <a:srgbClr val="17171B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81928" y="2212848"/>
            <a:ext cx="27432" cy="2286000"/>
          </a:xfrm>
          <a:prstGeom prst="rect">
            <a:avLst/>
          </a:prstGeom>
          <a:solidFill>
            <a:srgbClr val="B08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432304"/>
            <a:ext cx="1554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400" b="0" i="0" spc="100">
                <a:solidFill>
                  <a:srgbClr val="F2ECE5"/>
                </a:solidFill>
                <a:latin typeface="Microsoft YaHei Light"/>
                <a:ea typeface="Microsoft YaHei Ligh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416" y="250545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50" b="0" i="0" spc="100">
                <a:solidFill>
                  <a:srgbClr val="B08356"/>
                </a:solidFill>
                <a:latin typeface="Microsoft YaHei"/>
                <a:ea typeface="Microsoft YaHei"/>
              </a:rPr>
              <a:t>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10128"/>
            <a:ext cx="1929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 spc="160">
                <a:solidFill>
                  <a:srgbClr val="B08356"/>
                </a:solidFill>
                <a:latin typeface="Microsoft YaHei"/>
                <a:ea typeface="Microsoft YaHei"/>
              </a:rPr>
              <a:t>人格预设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639312"/>
            <a:ext cx="189280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9A948D"/>
                </a:solidFill>
                <a:latin typeface="Microsoft YaHei Light"/>
                <a:ea typeface="Microsoft YaHei Light"/>
              </a:rPr>
              <a:t>沉稳商务 · 米白轻奢 · 运动红黑 · 青春气息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88552" y="2212848"/>
            <a:ext cx="2331720" cy="2286000"/>
          </a:xfrm>
          <a:prstGeom prst="rect">
            <a:avLst/>
          </a:prstGeom>
          <a:solidFill>
            <a:srgbClr val="17171B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988552" y="2212848"/>
            <a:ext cx="27432" cy="22860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44584" y="2432304"/>
            <a:ext cx="1554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400" b="0" i="0" spc="100">
                <a:solidFill>
                  <a:srgbClr val="F2ECE5"/>
                </a:solidFill>
                <a:latin typeface="Microsoft YaHei Light"/>
                <a:ea typeface="Microsoft YaHei Light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250545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250" b="0" i="0" spc="100">
                <a:solidFill>
                  <a:srgbClr val="B08356"/>
                </a:solidFill>
                <a:latin typeface="Microsoft YaHei"/>
                <a:ea typeface="Microsoft YaHei"/>
              </a:rPr>
              <a:t>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3310128"/>
            <a:ext cx="1929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 spc="160">
                <a:solidFill>
                  <a:srgbClr val="B08356"/>
                </a:solidFill>
                <a:latin typeface="Microsoft YaHei"/>
                <a:ea typeface="Microsoft YaHei"/>
              </a:rPr>
              <a:t>购买按钮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584" y="3639312"/>
            <a:ext cx="189280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9A948D"/>
                </a:solidFill>
                <a:latin typeface="Microsoft YaHei Light"/>
                <a:ea typeface="Microsoft YaHei Light"/>
              </a:rPr>
              <a:t>没有购物车，没有报价单，没有客服弹窗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937760"/>
            <a:ext cx="104543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 spc="60">
                <a:solidFill>
                  <a:srgbClr val="9A948D"/>
                </a:solidFill>
                <a:latin typeface="Microsoft YaHei Light"/>
                <a:ea typeface="Microsoft YaHei Light"/>
              </a:rPr>
              <a:t>点哪一块，改哪一块；切进座舱，车顶自动让开——因为你要看的是内饰，不是车顶。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34593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5E5A55"/>
                </a:solidFill>
                <a:latin typeface="Microsoft YaHei"/>
                <a:ea typeface="Microsoft YaHei"/>
              </a:rPr>
              <a:t>数据来源：项目源码 src/store.ts（PartId 9 项 / PALETTE 11 色 / PAINT_PALETTE 11 色 / PRESETS 4 套）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74375" y="634593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5E5A55"/>
                </a:solidFill>
                <a:latin typeface="Microsoft YaHei"/>
                <a:ea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 spc="240">
                <a:solidFill>
                  <a:srgbClr val="B08356"/>
                </a:solidFill>
                <a:latin typeface="Microsoft YaHei"/>
                <a:ea typeface="Microsoft YaHei"/>
              </a:rPr>
              <a:t>04 / 走一遍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104543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3000" b="0" i="0">
                <a:solidFill>
                  <a:srgbClr val="F2ECE5"/>
                </a:solidFill>
                <a:latin typeface="Microsoft YaHei Light"/>
                <a:ea typeface="Microsoft YaHei Light"/>
              </a:rPr>
              <a:t>从外观点进座舱，全程都是同一台车</a:t>
            </a:r>
          </a:p>
        </p:txBody>
      </p:sp>
      <p:pic>
        <p:nvPicPr>
          <p:cNvPr id="5" name="Picture 4" descr="s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66543"/>
            <a:ext cx="3291840" cy="2194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8680" y="2066543"/>
            <a:ext cx="3291840" cy="2194560"/>
          </a:xfrm>
          <a:prstGeom prst="rect">
            <a:avLst/>
          </a:prstGeom>
          <a:noFill/>
          <a:ln w="1143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437083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 spc="140">
                <a:solidFill>
                  <a:srgbClr val="9A948D"/>
                </a:solidFill>
                <a:latin typeface="Microsoft YaHei"/>
                <a:ea typeface="Microsoft YaHei"/>
              </a:rPr>
              <a:t>外观 · 运动红黑</a:t>
            </a:r>
          </a:p>
        </p:txBody>
      </p:sp>
      <p:pic>
        <p:nvPicPr>
          <p:cNvPr id="8" name="Picture 7" descr="int_fw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556" y="2066543"/>
            <a:ext cx="3291840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448556" y="2066543"/>
            <a:ext cx="3291840" cy="2194560"/>
          </a:xfrm>
          <a:prstGeom prst="rect">
            <a:avLst/>
          </a:prstGeom>
          <a:noFill/>
          <a:ln w="1143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448556" y="437083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 spc="140">
                <a:solidFill>
                  <a:srgbClr val="9A948D"/>
                </a:solidFill>
                <a:latin typeface="Microsoft YaHei"/>
                <a:ea typeface="Microsoft YaHei"/>
              </a:rPr>
              <a:t>座舱 · 驾驶位视角</a:t>
            </a:r>
          </a:p>
        </p:txBody>
      </p:sp>
      <p:pic>
        <p:nvPicPr>
          <p:cNvPr id="11" name="Picture 10" descr="fres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2" y="2066543"/>
            <a:ext cx="3291840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028432" y="2066543"/>
            <a:ext cx="3291840" cy="2194560"/>
          </a:xfrm>
          <a:prstGeom prst="rect">
            <a:avLst/>
          </a:prstGeom>
          <a:noFill/>
          <a:ln w="1143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28432" y="437083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 spc="140">
                <a:solidFill>
                  <a:srgbClr val="9A948D"/>
                </a:solidFill>
                <a:latin typeface="Microsoft YaHei"/>
                <a:ea typeface="Microsoft YaHei"/>
              </a:rPr>
              <a:t>外观 · 青春气息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46320"/>
            <a:ext cx="104543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400" b="0" i="0" spc="60">
                <a:solidFill>
                  <a:srgbClr val="F2ECE5"/>
                </a:solidFill>
                <a:latin typeface="Microsoft YaHei Light"/>
                <a:ea typeface="Microsoft YaHei Light"/>
              </a:rPr>
              <a:t>落地页只放名字和一句话，点「开始定制」才进 3D；</a:t>
            </a:r>
          </a:p>
          <a:p>
            <a:pPr algn="l">
              <a:lnSpc>
                <a:spcPct val="165000"/>
              </a:lnSpc>
            </a:pPr>
            <a:r>
              <a:rPr sz="1400" b="0" i="0" spc="60">
                <a:solidFill>
                  <a:srgbClr val="F2ECE5"/>
                </a:solidFill>
                <a:latin typeface="Microsoft YaHei Light"/>
                <a:ea typeface="Microsoft YaHei Light"/>
              </a:rPr>
              <a:t>拖拽转身、滚轮靠近，视线固定在前排两座之间。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634593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5E5A55"/>
                </a:solidFill>
                <a:latin typeface="Microsoft YaHei"/>
                <a:ea typeface="Microsoft YaHei"/>
              </a:rPr>
              <a:t>实拍截图来自项目构建产物（1920×1080）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74375" y="634593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5E5A55"/>
                </a:solidFill>
                <a:latin typeface="Microsoft YaHei"/>
                <a:ea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 spc="240">
                <a:solidFill>
                  <a:srgbClr val="B08356"/>
                </a:solidFill>
                <a:latin typeface="Microsoft YaHei"/>
                <a:ea typeface="Microsoft YaHei"/>
              </a:rPr>
              <a:t>05 / 一个色号的距离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104543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3000" b="0" i="0">
                <a:solidFill>
                  <a:srgbClr val="F2ECE5"/>
                </a:solidFill>
                <a:latin typeface="Microsoft YaHei Light"/>
                <a:ea typeface="Microsoft YaHei Light"/>
              </a:rPr>
              <a:t>同一台车，两种性格</a:t>
            </a:r>
          </a:p>
        </p:txBody>
      </p:sp>
      <p:pic>
        <p:nvPicPr>
          <p:cNvPr id="5" name="Picture 4" descr="int_d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48840"/>
            <a:ext cx="4754880" cy="31729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8680" y="2148840"/>
            <a:ext cx="4754880" cy="3172968"/>
          </a:xfrm>
          <a:prstGeom prst="rect">
            <a:avLst/>
          </a:prstGeom>
          <a:noFill/>
          <a:ln w="1143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nt_dash_woo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135" y="2148840"/>
            <a:ext cx="4754880" cy="31729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68135" y="2148840"/>
            <a:ext cx="4754880" cy="3172968"/>
          </a:xfrm>
          <a:prstGeom prst="rect">
            <a:avLst/>
          </a:prstGeom>
          <a:noFill/>
          <a:ln w="1143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543153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 spc="140">
                <a:solidFill>
                  <a:srgbClr val="9A948D"/>
                </a:solidFill>
                <a:latin typeface="Microsoft YaHei"/>
                <a:ea typeface="Microsoft YaHei"/>
              </a:rPr>
              <a:t>奶油白仪表台　#F6EFE2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8135" y="543153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i="0" spc="140">
                <a:solidFill>
                  <a:srgbClr val="9A948D"/>
                </a:solidFill>
                <a:latin typeface="Microsoft YaHei"/>
                <a:ea typeface="Microsoft YaHei"/>
              </a:rPr>
              <a:t>原木色仪表台　#A9784B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3529584"/>
            <a:ext cx="9445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3000" b="0" i="0">
                <a:solidFill>
                  <a:srgbClr val="B08356"/>
                </a:solidFill>
                <a:latin typeface="Microsoft YaHei Light"/>
                <a:ea typeface="Microsoft YaHei Light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797296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 spc="100">
                <a:solidFill>
                  <a:srgbClr val="B08356"/>
                </a:solidFill>
                <a:latin typeface="Microsoft YaHei Light"/>
                <a:ea typeface="Microsoft YaHei Light"/>
              </a:rPr>
              <a:t>四套预设一键切换；也可以在 11 色里自己调。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34593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5E5A55"/>
                </a:solidFill>
                <a:latin typeface="Microsoft YaHei"/>
                <a:ea typeface="Microsoft YaHei"/>
              </a:rPr>
              <a:t>两次截图之间只改了一个部件的颜色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74375" y="634593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5E5A55"/>
                </a:solidFill>
                <a:latin typeface="Microsoft YaHei"/>
                <a:ea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 spc="240">
                <a:solidFill>
                  <a:srgbClr val="B08356"/>
                </a:solidFill>
                <a:latin typeface="Microsoft YaHei"/>
                <a:ea typeface="Microsoft YaHei"/>
              </a:rPr>
              <a:t>06 / 那它到底有什么用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104543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3000" b="0" i="0">
                <a:solidFill>
                  <a:srgbClr val="F2ECE5"/>
                </a:solidFill>
                <a:latin typeface="Microsoft YaHei Light"/>
                <a:ea typeface="Microsoft YaHei Light"/>
              </a:rPr>
              <a:t>它治的不是选车，是「想坐进去」的瘾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286000"/>
            <a:ext cx="3273552" cy="2157984"/>
          </a:xfrm>
          <a:prstGeom prst="rect">
            <a:avLst/>
          </a:prstGeom>
          <a:solidFill>
            <a:srgbClr val="17171B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61288" y="2505456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 spc="160">
                <a:solidFill>
                  <a:srgbClr val="B0835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2871216"/>
            <a:ext cx="27249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2ECE5"/>
                </a:solidFill>
                <a:latin typeface="Microsoft YaHei"/>
                <a:ea typeface="Microsoft YaHei"/>
              </a:rPr>
              <a:t>还买不起，或还不到时候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3621024"/>
            <a:ext cx="27249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9A948D"/>
                </a:solidFill>
                <a:latin typeface="Microsoft YaHei Light"/>
                <a:ea typeface="Microsoft YaHei Light"/>
              </a:rPr>
              <a:t>先坐进去看看自己到底会喜欢什么，比刷一百张官图有用。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128" y="2286000"/>
            <a:ext cx="3273552" cy="2157984"/>
          </a:xfrm>
          <a:prstGeom prst="rect">
            <a:avLst/>
          </a:prstGeom>
          <a:solidFill>
            <a:srgbClr val="17171B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745736" y="2505456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 spc="160">
                <a:solidFill>
                  <a:srgbClr val="B0835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5736" y="2871216"/>
            <a:ext cx="27249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2ECE5"/>
                </a:solidFill>
                <a:latin typeface="Microsoft YaHei"/>
                <a:ea typeface="Microsoft YaHei"/>
              </a:rPr>
              <a:t>刚提了车，手还没停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3621024"/>
            <a:ext cx="27249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9A948D"/>
                </a:solidFill>
                <a:latin typeface="Microsoft YaHei Light"/>
                <a:ea typeface="Microsoft YaHei Light"/>
              </a:rPr>
              <a:t>想知道还能改成什么样，再去门店下单，少一次后悔。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7575" y="2286000"/>
            <a:ext cx="3273552" cy="2157984"/>
          </a:xfrm>
          <a:prstGeom prst="rect">
            <a:avLst/>
          </a:prstGeom>
          <a:solidFill>
            <a:srgbClr val="17171B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30183" y="2505456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 spc="160">
                <a:solidFill>
                  <a:srgbClr val="B0835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2871216"/>
            <a:ext cx="27249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2ECE5"/>
                </a:solidFill>
                <a:latin typeface="Microsoft YaHei"/>
                <a:ea typeface="Microsoft YaHei"/>
              </a:rPr>
              <a:t>单纯手痒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3" y="3621024"/>
            <a:ext cx="27249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9A948D"/>
                </a:solidFill>
                <a:latin typeface="Microsoft YaHei Light"/>
                <a:ea typeface="Microsoft YaHei Light"/>
              </a:rPr>
              <a:t>没有导购跟着，没有弹窗，点两下就走，不需要理由。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64608"/>
            <a:ext cx="104543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 spc="140">
                <a:solidFill>
                  <a:srgbClr val="B08356"/>
                </a:solidFill>
                <a:latin typeface="Microsoft YaHei Light"/>
                <a:ea typeface="Microsoft YaHei Light"/>
              </a:rPr>
              <a:t>不卖车，也不导流——所以它才敢让你随便玩。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34593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5E5A55"/>
                </a:solidFill>
                <a:latin typeface="Microsoft YaHei"/>
                <a:ea typeface="Microsoft YaHei"/>
              </a:rPr>
              <a:t>“无用”是前提：它没有任何转化路径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4375" y="634593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5E5A55"/>
                </a:solidFill>
                <a:latin typeface="Microsoft YaHei"/>
                <a:ea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 spc="240">
                <a:solidFill>
                  <a:srgbClr val="B08356"/>
                </a:solidFill>
                <a:latin typeface="Microsoft YaHei"/>
                <a:ea typeface="Microsoft YaHei"/>
              </a:rPr>
              <a:t>07 / AI coding 深度使用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104543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3000" b="0" i="0">
                <a:solidFill>
                  <a:srgbClr val="F2ECE5"/>
                </a:solidFill>
                <a:latin typeface="Microsoft YaHei Light"/>
                <a:ea typeface="Microsoft YaHei Light"/>
              </a:rPr>
              <a:t>3 天，25 次提交，从一个念头到能跑能拍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286000"/>
            <a:ext cx="6858000" cy="1060704"/>
          </a:xfrm>
          <a:prstGeom prst="rect">
            <a:avLst/>
          </a:prstGeom>
          <a:solidFill>
            <a:srgbClr val="17171B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79576" y="2505456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 spc="140">
                <a:solidFill>
                  <a:srgbClr val="B08356"/>
                </a:solidFill>
                <a:latin typeface="Microsoft YaHei"/>
                <a:ea typeface="Microsoft YaHei"/>
              </a:rPr>
              <a:t>10-19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2487168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 spc="120">
                <a:solidFill>
                  <a:srgbClr val="5E5A55"/>
                </a:solidFill>
                <a:latin typeface="Microsoft YaHei"/>
                <a:ea typeface="Microsoft YaHei"/>
              </a:rPr>
              <a:t>6 次提交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48716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2ECE5"/>
                </a:solidFill>
                <a:latin typeface="Microsoft YaHei"/>
                <a:ea typeface="Microsoft YaHei"/>
              </a:rPr>
              <a:t>立项 · 建模 · 相机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85292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A948D"/>
                </a:solidFill>
                <a:latin typeface="Microsoft YaHei Light"/>
                <a:ea typeface="Microsoft YaHei Light"/>
              </a:rPr>
              <a:t>GLB 加载、座舱机位、点选换色打通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474720"/>
            <a:ext cx="6858000" cy="1060704"/>
          </a:xfrm>
          <a:prstGeom prst="rect">
            <a:avLst/>
          </a:prstGeom>
          <a:solidFill>
            <a:srgbClr val="17171B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79576" y="3694176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 spc="140">
                <a:solidFill>
                  <a:srgbClr val="B08356"/>
                </a:solidFill>
                <a:latin typeface="Microsoft YaHei"/>
                <a:ea typeface="Microsoft YaHei"/>
              </a:rPr>
              <a:t>10-20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675887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 spc="120">
                <a:solidFill>
                  <a:srgbClr val="5E5A55"/>
                </a:solidFill>
                <a:latin typeface="Microsoft YaHei"/>
                <a:ea typeface="Microsoft YaHei"/>
              </a:rPr>
              <a:t>9 次提交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675887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2ECE5"/>
                </a:solidFill>
                <a:latin typeface="Microsoft YaHei"/>
                <a:ea typeface="Microsoft YaHei"/>
              </a:rPr>
              <a:t>打磨交互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04164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A948D"/>
                </a:solidFill>
                <a:latin typeface="Microsoft YaHei Light"/>
                <a:ea typeface="Microsoft YaHei Light"/>
              </a:rPr>
              <a:t>材质修复、四套预设、去掉选中描边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663440"/>
            <a:ext cx="6858000" cy="1060704"/>
          </a:xfrm>
          <a:prstGeom prst="rect">
            <a:avLst/>
          </a:prstGeom>
          <a:solidFill>
            <a:srgbClr val="17171B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79576" y="4882896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 spc="140">
                <a:solidFill>
                  <a:srgbClr val="B08356"/>
                </a:solidFill>
                <a:latin typeface="Microsoft YaHei"/>
                <a:ea typeface="Microsoft YaHei"/>
              </a:rPr>
              <a:t>10-21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864607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 spc="120">
                <a:solidFill>
                  <a:srgbClr val="5E5A55"/>
                </a:solidFill>
                <a:latin typeface="Microsoft YaHei"/>
                <a:ea typeface="Microsoft YaHei"/>
              </a:rPr>
              <a:t>10 次提交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864607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2ECE5"/>
                </a:solidFill>
                <a:latin typeface="Microsoft YaHei"/>
                <a:ea typeface="Microsoft YaHei"/>
              </a:rPr>
              <a:t>交付成片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23036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A948D"/>
                </a:solidFill>
                <a:latin typeface="Microsoft YaHei Light"/>
                <a:ea typeface="Microsoft YaHei Light"/>
              </a:rPr>
              <a:t>落地页 85% 版式、双端适配、42.9s 宣传片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2286000"/>
            <a:ext cx="3227832" cy="1060704"/>
          </a:xfrm>
          <a:prstGeom prst="rect">
            <a:avLst/>
          </a:prstGeom>
          <a:noFill/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366760" y="246888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 i="0" spc="100">
                <a:solidFill>
                  <a:srgbClr val="F2ECE5"/>
                </a:solidFill>
                <a:latin typeface="Microsoft YaHei Light"/>
                <a:ea typeface="Microsoft YaHei Light"/>
              </a:rPr>
              <a:t>1,624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98094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 spc="120">
                <a:solidFill>
                  <a:srgbClr val="9A948D"/>
                </a:solidFill>
                <a:latin typeface="Microsoft YaHei"/>
                <a:ea typeface="Microsoft YaHei"/>
              </a:rPr>
              <a:t>行源码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3474720"/>
            <a:ext cx="3227832" cy="1060704"/>
          </a:xfrm>
          <a:prstGeom prst="rect">
            <a:avLst/>
          </a:prstGeom>
          <a:noFill/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366760" y="36576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 i="0" spc="100">
                <a:solidFill>
                  <a:srgbClr val="F2ECE5"/>
                </a:solidFill>
                <a:latin typeface="Microsoft YaHei Light"/>
                <a:ea typeface="Microsoft YaHei Light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169663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 spc="120">
                <a:solidFill>
                  <a:srgbClr val="9A948D"/>
                </a:solidFill>
                <a:latin typeface="Microsoft YaHei"/>
                <a:ea typeface="Microsoft YaHei"/>
              </a:rPr>
              <a:t>个源文件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4663440"/>
            <a:ext cx="3227832" cy="1060704"/>
          </a:xfrm>
          <a:prstGeom prst="rect">
            <a:avLst/>
          </a:prstGeom>
          <a:noFill/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366760" y="48463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 i="0" spc="100">
                <a:solidFill>
                  <a:srgbClr val="F2ECE5"/>
                </a:solidFill>
                <a:latin typeface="Microsoft YaHei Light"/>
                <a:ea typeface="Microsoft YaHei Light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5358383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 spc="120">
                <a:solidFill>
                  <a:srgbClr val="9A948D"/>
                </a:solidFill>
                <a:latin typeface="Microsoft YaHei"/>
                <a:ea typeface="Microsoft YaHei"/>
              </a:rPr>
              <a:t>个自动化脚本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870448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 spc="80">
                <a:solidFill>
                  <a:srgbClr val="B08356"/>
                </a:solidFill>
                <a:latin typeface="Microsoft YaHei"/>
                <a:ea typeface="Microsoft YaHei"/>
              </a:rPr>
              <a:t>工具：WorkBuddy 智能体　｜　不是补全式使用，是“我出想法、它出实现”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34593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5E5A55"/>
                </a:solidFill>
                <a:latin typeface="Microsoft YaHei"/>
                <a:ea typeface="Microsoft YaHei"/>
              </a:rPr>
              <a:t>数据来源：git log 提交记录、src 目录统计（截至 2026-10-21）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74375" y="634593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5E5A55"/>
                </a:solidFill>
                <a:latin typeface="Microsoft YaHei"/>
                <a:ea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 spc="240">
                <a:solidFill>
                  <a:srgbClr val="B08356"/>
                </a:solidFill>
                <a:latin typeface="Microsoft YaHei"/>
                <a:ea typeface="Microsoft YaHei"/>
              </a:rPr>
              <a:t>08 / AI coding 深度使用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104543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3000" b="0" i="0">
                <a:solidFill>
                  <a:srgbClr val="F2ECE5"/>
                </a:solidFill>
                <a:latin typeface="Microsoft YaHei Light"/>
                <a:ea typeface="Microsoft YaHei Light"/>
              </a:rPr>
              <a:t>AI 不只写代码，它还替我做了三件硬事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212848"/>
            <a:ext cx="10454335" cy="1133856"/>
          </a:xfrm>
          <a:prstGeom prst="rect">
            <a:avLst/>
          </a:prstGeom>
          <a:solidFill>
            <a:srgbClr val="17171B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79576" y="239572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 spc="160">
                <a:solidFill>
                  <a:srgbClr val="B0835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9384" y="23957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2ECE5"/>
                </a:solidFill>
                <a:latin typeface="Microsoft YaHei"/>
                <a:ea typeface="Microsoft YaHei"/>
              </a:rPr>
              <a:t>证明“点了真的没反应”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9384" y="2779776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9A948D"/>
                </a:solidFill>
                <a:latin typeface="Microsoft YaHei Light"/>
                <a:ea typeface="Microsoft YaHei Light"/>
              </a:rPr>
              <a:t>自己写 PNG 解码器做像素级 diff：改交互前后对比 0 / 544,000 像素变化，7 条断言全部通过。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456432"/>
            <a:ext cx="10454335" cy="1133856"/>
          </a:xfrm>
          <a:prstGeom prst="rect">
            <a:avLst/>
          </a:prstGeom>
          <a:solidFill>
            <a:srgbClr val="17171B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79576" y="3639312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 spc="160">
                <a:solidFill>
                  <a:srgbClr val="B0835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9384" y="36393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2ECE5"/>
                </a:solidFill>
                <a:latin typeface="Microsoft YaHei"/>
                <a:ea typeface="Microsoft YaHei"/>
              </a:rPr>
              <a:t>揪出 GLB 材质串色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9384" y="4023360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9A948D"/>
                </a:solidFill>
                <a:latin typeface="Microsoft YaHei Light"/>
                <a:ea typeface="Microsoft YaHei Light"/>
              </a:rPr>
              <a:t>方向盘和门板共用同一个材质实例，改门板方向盘跟着变红；按 mesh 归属 clone 拆分才解决。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700016"/>
            <a:ext cx="10454335" cy="1133856"/>
          </a:xfrm>
          <a:prstGeom prst="rect">
            <a:avLst/>
          </a:prstGeom>
          <a:solidFill>
            <a:srgbClr val="17171B"/>
          </a:solidFill>
          <a:ln w="1270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9576" y="4882896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 spc="160">
                <a:solidFill>
                  <a:srgbClr val="B0835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9384" y="488289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2ECE5"/>
                </a:solidFill>
                <a:latin typeface="Microsoft YaHei"/>
                <a:ea typeface="Microsoft YaHei"/>
              </a:rPr>
              <a:t>绕过 0.85 fps 的算力墙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9384" y="5266944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9A948D"/>
                </a:solidFill>
                <a:latin typeface="Microsoft YaHei Light"/>
                <a:ea typeface="Microsoft YaHei Light"/>
              </a:rPr>
              <a:t>机器只有软件渲染，1080p 一秒不到一帧；改走静帧 + ffmpeg 运镜，才剪出 42.9 秒的片子。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943600"/>
            <a:ext cx="10454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 spc="100">
                <a:solidFill>
                  <a:srgbClr val="B08356"/>
                </a:solidFill>
                <a:latin typeface="Microsoft YaHei Light"/>
                <a:ea typeface="Microsoft YaHei Light"/>
              </a:rPr>
              <a:t>这些不是「生成代码」，是诊断、验证与取舍。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34593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5E5A55"/>
                </a:solidFill>
                <a:latin typeface="Microsoft YaHei"/>
                <a:ea typeface="Microsoft YaHei"/>
              </a:rPr>
              <a:t>对应脚本：scripts/preview-nochange.mjs、scripts/preview-landing.mjs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4375" y="634593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5E5A55"/>
                </a:solidFill>
                <a:latin typeface="Microsoft YaHei"/>
                <a:ea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 spc="240">
                <a:solidFill>
                  <a:srgbClr val="B08356"/>
                </a:solidFill>
                <a:latin typeface="Microsoft YaHei"/>
                <a:ea typeface="Microsoft YaHei"/>
              </a:rPr>
              <a:t>09 / 交付质量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32688"/>
            <a:ext cx="104543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3000" b="0" i="0">
                <a:solidFill>
                  <a:srgbClr val="F2ECE5"/>
                </a:solidFill>
                <a:latin typeface="Microsoft YaHei Light"/>
                <a:ea typeface="Microsoft YaHei Light"/>
              </a:rPr>
              <a:t>能跑、能看、能验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3113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 spc="160">
                <a:solidFill>
                  <a:srgbClr val="B08356"/>
                </a:solidFill>
                <a:latin typeface="Microsoft YaHei"/>
                <a:ea typeface="Microsoft YaHei"/>
              </a:rPr>
              <a:t>能跑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47672" y="2231136"/>
            <a:ext cx="37033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2ECE5"/>
                </a:solidFill>
                <a:latin typeface="Microsoft YaHei Light"/>
                <a:ea typeface="Microsoft YaHei Light"/>
              </a:rPr>
              <a:t>React 19 + three.js + GLB（draco 压缩），桌面与手机都能开，落地页四档屏高实测占屏 84.8%–85.0%。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1985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 spc="160">
                <a:solidFill>
                  <a:srgbClr val="B08356"/>
                </a:solidFill>
                <a:latin typeface="Microsoft YaHei"/>
                <a:ea typeface="Microsoft YaHei"/>
              </a:rPr>
              <a:t>能看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47672" y="3419856"/>
            <a:ext cx="37033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2ECE5"/>
                </a:solidFill>
                <a:latin typeface="Microsoft YaHei Light"/>
                <a:ea typeface="Microsoft YaHei Light"/>
              </a:rPr>
              <a:t>42.9 秒 1080p 宣传片，中文配音与字幕逐句对位，片尾主张句定格 1 秒收尾。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0857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 spc="160">
                <a:solidFill>
                  <a:srgbClr val="B08356"/>
                </a:solidFill>
                <a:latin typeface="Microsoft YaHei"/>
                <a:ea typeface="Microsoft YaHei"/>
              </a:rPr>
              <a:t>能验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7672" y="4608576"/>
            <a:ext cx="37033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2ECE5"/>
                </a:solidFill>
                <a:latin typeface="Microsoft YaHei Light"/>
                <a:ea typeface="Microsoft YaHei Light"/>
              </a:rPr>
              <a:t>12 个自动化脚本、18 条断言；点击零变化做过像素级比对，不是口头保证。</a:t>
            </a:r>
          </a:p>
        </p:txBody>
      </p:sp>
      <p:pic>
        <p:nvPicPr>
          <p:cNvPr id="11" name="Picture 10" descr="lan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212848"/>
            <a:ext cx="4206240" cy="236829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89320" y="2212848"/>
            <a:ext cx="4206240" cy="2368296"/>
          </a:xfrm>
          <a:prstGeom prst="rect">
            <a:avLst/>
          </a:prstGeom>
          <a:noFill/>
          <a:ln w="1143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mob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2606040"/>
            <a:ext cx="914400" cy="197510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332720" y="2606040"/>
            <a:ext cx="914400" cy="1975104"/>
          </a:xfrm>
          <a:prstGeom prst="rect">
            <a:avLst/>
          </a:prstGeom>
          <a:noFill/>
          <a:ln w="11430">
            <a:solidFill>
              <a:srgbClr val="2E2E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89320" y="4700016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 spc="120">
                <a:solidFill>
                  <a:srgbClr val="5E5A55"/>
                </a:solidFill>
                <a:latin typeface="Microsoft YaHei"/>
                <a:ea typeface="Microsoft YaHei"/>
              </a:rPr>
              <a:t>桌面 1920×1080　｜　手机 390×844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34593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5E5A55"/>
                </a:solidFill>
                <a:latin typeface="Microsoft YaHei"/>
                <a:ea typeface="Microsoft YaHei"/>
              </a:rPr>
              <a:t>验证方式：Playwright 无头浏览器 + 自写 PNG diff，非人工目测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74375" y="634593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5E5A55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 spc="240">
                <a:solidFill>
                  <a:srgbClr val="B08356"/>
                </a:solidFill>
                <a:latin typeface="Microsoft YaHei"/>
                <a:ea typeface="Microsoft YaHei"/>
              </a:rPr>
              <a:t>10 / 最后一句话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95097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4100" b="0" i="0" spc="240">
                <a:solidFill>
                  <a:srgbClr val="F2ECE5"/>
                </a:solidFill>
                <a:latin typeface="Microsoft YaHei Light"/>
                <a:ea typeface="Microsoft YaHei Light"/>
              </a:rPr>
              <a:t>内饰不必千篇一律。</a:t>
            </a:r>
          </a:p>
          <a:p>
            <a:pPr algn="l">
              <a:lnSpc>
                <a:spcPct val="142000"/>
              </a:lnSpc>
            </a:pPr>
            <a:r>
              <a:rPr sz="4100" b="0" i="0" spc="240">
                <a:solidFill>
                  <a:srgbClr val="F2ECE5"/>
                </a:solidFill>
                <a:latin typeface="Microsoft YaHei Light"/>
                <a:ea typeface="Microsoft YaHei Light"/>
              </a:rPr>
              <a:t>你的座驾，你来定风格。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13632"/>
            <a:ext cx="1234440" cy="12801"/>
          </a:xfrm>
          <a:prstGeom prst="rect">
            <a:avLst/>
          </a:prstGeom>
          <a:solidFill>
            <a:srgbClr val="B08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224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 spc="140">
                <a:solidFill>
                  <a:srgbClr val="B08356"/>
                </a:solidFill>
                <a:latin typeface="Microsoft YaHei"/>
                <a:ea typeface="Microsoft YaHei"/>
              </a:rPr>
              <a:t>在线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4224528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 spc="60">
                <a:solidFill>
                  <a:srgbClr val="9A948D"/>
                </a:solidFill>
                <a:latin typeface="Microsoft YaHei"/>
                <a:ea typeface="Microsoft YaHei"/>
              </a:rPr>
              <a:t>［ 提交前粘贴你的可访问链接 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085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 spc="140">
                <a:solidFill>
                  <a:srgbClr val="B08356"/>
                </a:solidFill>
                <a:latin typeface="Microsoft YaHei"/>
                <a:ea typeface="Microsoft YaHei"/>
              </a:rPr>
              <a:t>演示视频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4608576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 spc="60">
                <a:solidFill>
                  <a:srgbClr val="9A948D"/>
                </a:solidFill>
                <a:latin typeface="Microsoft YaHei"/>
                <a:ea typeface="Microsoft YaHei"/>
              </a:rPr>
              <a:t>neixiu-intro-1080p.mp4　42.9s / 1920×1080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99262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 spc="140">
                <a:solidFill>
                  <a:srgbClr val="B08356"/>
                </a:solidFill>
                <a:latin typeface="Microsoft YaHei"/>
                <a:ea typeface="Microsoft YaHei"/>
              </a:rPr>
              <a:t>源码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4992624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 spc="60">
                <a:solidFill>
                  <a:srgbClr val="9A948D"/>
                </a:solidFill>
                <a:latin typeface="Microsoft YaHei"/>
                <a:ea typeface="Microsoft YaHei"/>
              </a:rPr>
              <a:t>github.com/primary-student/car-interior-configurator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961888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 spc="160">
                <a:solidFill>
                  <a:srgbClr val="5E5A55"/>
                </a:solidFill>
                <a:latin typeface="Microsoft YaHei"/>
                <a:ea typeface="Microsoft YaHei"/>
              </a:rPr>
              <a:t>内秀 NEIXIU　·　AWS 鬼点子计划 线上赛　·　赛道一 无用之用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